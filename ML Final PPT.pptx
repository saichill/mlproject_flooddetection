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nton" charset="1" panose="00000500000000000000"/>
      <p:regular r:id="rId28"/>
    </p:embeddedFont>
    <p:embeddedFont>
      <p:font typeface="Agrandir" charset="1" panose="00000500000000000000"/>
      <p:regular r:id="rId29"/>
    </p:embeddedFont>
    <p:embeddedFont>
      <p:font typeface="Agrandir Bold" charset="1" panose="000008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64218" y="2828936"/>
            <a:ext cx="3590163" cy="8229600"/>
          </a:xfrm>
          <a:custGeom>
            <a:avLst/>
            <a:gdLst/>
            <a:ahLst/>
            <a:cxnLst/>
            <a:rect r="r" b="b" t="t" l="l"/>
            <a:pathLst>
              <a:path h="8229600" w="3590163">
                <a:moveTo>
                  <a:pt x="0" y="0"/>
                </a:moveTo>
                <a:lnTo>
                  <a:pt x="3590164" y="0"/>
                </a:lnTo>
                <a:lnTo>
                  <a:pt x="35901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766382" y="2828936"/>
            <a:ext cx="3590163" cy="8229600"/>
          </a:xfrm>
          <a:custGeom>
            <a:avLst/>
            <a:gdLst/>
            <a:ahLst/>
            <a:cxnLst/>
            <a:rect r="r" b="b" t="t" l="l"/>
            <a:pathLst>
              <a:path h="8229600" w="3590163">
                <a:moveTo>
                  <a:pt x="3590164" y="0"/>
                </a:moveTo>
                <a:lnTo>
                  <a:pt x="0" y="0"/>
                </a:lnTo>
                <a:lnTo>
                  <a:pt x="0" y="8229600"/>
                </a:lnTo>
                <a:lnTo>
                  <a:pt x="3590164" y="8229600"/>
                </a:lnTo>
                <a:lnTo>
                  <a:pt x="3590164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3534" y="478304"/>
            <a:ext cx="16988416" cy="1075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38"/>
              </a:lnSpc>
            </a:pPr>
            <a:r>
              <a:rPr lang="en-US" sz="792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FLOOD DETECTION USING DEEP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97523" y="3328305"/>
            <a:ext cx="12640437" cy="432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5360" indent="-382680" lvl="1">
              <a:lnSpc>
                <a:spcPts val="3686"/>
              </a:lnSpc>
              <a:buFont typeface="Arial"/>
              <a:buChar char="•"/>
            </a:pPr>
            <a:r>
              <a:rPr lang="en-US" sz="354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COURSE PROJECT ON APPLYING CNNS TO DISASTER DETECTION</a:t>
            </a:r>
          </a:p>
          <a:p>
            <a:pPr algn="l">
              <a:lnSpc>
                <a:spcPts val="3686"/>
              </a:lnSpc>
            </a:pPr>
          </a:p>
          <a:p>
            <a:pPr algn="l" marL="765360" indent="-382680" lvl="1">
              <a:lnSpc>
                <a:spcPts val="3686"/>
              </a:lnSpc>
              <a:buFont typeface="Arial"/>
              <a:buChar char="•"/>
            </a:pPr>
            <a:r>
              <a:rPr lang="en-US" sz="354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TEAM: AMRUTHA GOWRI JAYASIMHA HANUMESH, YESESWINI CHANDANA, SAI KIRAN CHILLIMUNTHA</a:t>
            </a:r>
          </a:p>
          <a:p>
            <a:pPr algn="l">
              <a:lnSpc>
                <a:spcPts val="3686"/>
              </a:lnSpc>
            </a:pPr>
          </a:p>
          <a:p>
            <a:pPr algn="l" marL="765360" indent="-382680" lvl="1">
              <a:lnSpc>
                <a:spcPts val="3686"/>
              </a:lnSpc>
              <a:buFont typeface="Arial"/>
              <a:buChar char="•"/>
            </a:pPr>
            <a:r>
              <a:rPr lang="en-US" sz="354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TOOLS: PYTHON, PYTORCH, GOOGLE COLAB, KAGGLE FLOODIMG DATASET</a:t>
            </a:r>
          </a:p>
          <a:p>
            <a:pPr algn="l">
              <a:lnSpc>
                <a:spcPts val="36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9859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0" y="0"/>
                </a:moveTo>
                <a:lnTo>
                  <a:pt x="3940747" y="0"/>
                </a:lnTo>
                <a:lnTo>
                  <a:pt x="39407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9859" y="235746"/>
            <a:ext cx="17721576" cy="114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2"/>
              </a:lnSpc>
              <a:spcBef>
                <a:spcPct val="0"/>
              </a:spcBef>
            </a:pPr>
            <a:r>
              <a:rPr lang="en-US" b="true" sz="69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MOTIVATION &amp; 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65025" y="2865642"/>
            <a:ext cx="13780829" cy="596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2747" indent="-411374" lvl="1">
              <a:lnSpc>
                <a:spcPts val="3963"/>
              </a:lnSpc>
              <a:buFont typeface="Arial"/>
              <a:buChar char="•"/>
            </a:pPr>
            <a:r>
              <a:rPr lang="en-US" sz="38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FLOODS CAUSE LARGE-SCALE DAMAGE AND HUMAN DISPLACEMENT WORLDWIDE.</a:t>
            </a:r>
          </a:p>
          <a:p>
            <a:pPr algn="just">
              <a:lnSpc>
                <a:spcPts val="3963"/>
              </a:lnSpc>
            </a:pPr>
          </a:p>
          <a:p>
            <a:pPr algn="just" marL="822747" indent="-411374" lvl="1">
              <a:lnSpc>
                <a:spcPts val="3963"/>
              </a:lnSpc>
              <a:buFont typeface="Arial"/>
              <a:buChar char="•"/>
            </a:pPr>
            <a:r>
              <a:rPr lang="en-US" sz="38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SOCIAL MEDIA AND DRONE IMAGES ARE AVAILABLE QUICKLY DURING DISASTERS.</a:t>
            </a:r>
          </a:p>
          <a:p>
            <a:pPr algn="just">
              <a:lnSpc>
                <a:spcPts val="3963"/>
              </a:lnSpc>
            </a:pPr>
            <a:r>
              <a:rPr lang="en-US" sz="38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\</a:t>
            </a:r>
          </a:p>
          <a:p>
            <a:pPr algn="just" marL="822747" indent="-411374" lvl="1">
              <a:lnSpc>
                <a:spcPts val="3963"/>
              </a:lnSpc>
              <a:buFont typeface="Arial"/>
              <a:buChar char="•"/>
            </a:pPr>
            <a:r>
              <a:rPr lang="en-US" sz="38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GOAL: AUTOMATICALLY DETECT WHETHER AN IMAGE SHOWS FLOODED OR NON-FLOODED SCENES.</a:t>
            </a:r>
          </a:p>
          <a:p>
            <a:pPr algn="just">
              <a:lnSpc>
                <a:spcPts val="3963"/>
              </a:lnSpc>
            </a:pPr>
          </a:p>
          <a:p>
            <a:pPr algn="just" marL="822747" indent="-411374" lvl="1">
              <a:lnSpc>
                <a:spcPts val="3963"/>
              </a:lnSpc>
              <a:buFont typeface="Arial"/>
              <a:buChar char="•"/>
            </a:pPr>
            <a:r>
              <a:rPr lang="en-US" sz="38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BUILD AND COMPARE DEEP LEARNING MODELS FOR THIS BINARY CLASSIFICATION TASK.</a:t>
            </a:r>
          </a:p>
          <a:p>
            <a:pPr algn="just">
              <a:lnSpc>
                <a:spcPts val="396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84777" y="485255"/>
            <a:ext cx="8595948" cy="101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0"/>
              </a:lnSpc>
              <a:spcBef>
                <a:spcPct val="0"/>
              </a:spcBef>
            </a:pPr>
            <a:r>
              <a:rPr lang="en-US" b="true" sz="61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 OVERVIEW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02267" y="3215540"/>
            <a:ext cx="5048616" cy="5048616"/>
          </a:xfrm>
          <a:custGeom>
            <a:avLst/>
            <a:gdLst/>
            <a:ahLst/>
            <a:cxnLst/>
            <a:rect r="r" b="b" t="t" l="l"/>
            <a:pathLst>
              <a:path h="5048616" w="5048616">
                <a:moveTo>
                  <a:pt x="0" y="0"/>
                </a:moveTo>
                <a:lnTo>
                  <a:pt x="5048616" y="0"/>
                </a:lnTo>
                <a:lnTo>
                  <a:pt x="5048616" y="5048616"/>
                </a:lnTo>
                <a:lnTo>
                  <a:pt x="0" y="504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56521" y="4732245"/>
            <a:ext cx="3355672" cy="176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50883" y="2025295"/>
            <a:ext cx="11737117" cy="876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6557" indent="-428279" lvl="1">
              <a:lnSpc>
                <a:spcPts val="5316"/>
              </a:lnSpc>
              <a:buFont typeface="Arial"/>
              <a:buChar char="•"/>
            </a:pP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Source: FloodIMG dataset from Kaggle.</a:t>
            </a:r>
          </a:p>
          <a:p>
            <a:pPr algn="l">
              <a:lnSpc>
                <a:spcPts val="5316"/>
              </a:lnSpc>
            </a:pPr>
          </a:p>
          <a:p>
            <a:pPr algn="l" marL="856557" indent="-428279" lvl="1">
              <a:lnSpc>
                <a:spcPts val="5316"/>
              </a:lnSpc>
              <a:buFont typeface="Arial"/>
              <a:buChar char="•"/>
            </a:pP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After cleaning and skipping corrupted images:</a:t>
            </a:r>
          </a:p>
          <a:p>
            <a:pPr algn="l" marL="1713115" indent="-571038" lvl="2">
              <a:lnSpc>
                <a:spcPts val="5316"/>
              </a:lnSpc>
              <a:buFont typeface="Arial"/>
              <a:buChar char="⚬"/>
            </a:pP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Total images: 7,526</a:t>
            </a:r>
          </a:p>
          <a:p>
            <a:pPr algn="l" marL="1713115" indent="-571038" lvl="2">
              <a:lnSpc>
                <a:spcPts val="5316"/>
              </a:lnSpc>
              <a:buFont typeface="Arial"/>
              <a:buChar char="⚬"/>
            </a:pP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Flooded: 7,492</a:t>
            </a:r>
          </a:p>
          <a:p>
            <a:pPr algn="l" marL="1713115" indent="-571038" lvl="2">
              <a:lnSpc>
                <a:spcPts val="5316"/>
              </a:lnSpc>
              <a:buFont typeface="Arial"/>
              <a:buChar char="⚬"/>
            </a:pP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Non-flooded: 34</a:t>
            </a:r>
          </a:p>
          <a:p>
            <a:pPr algn="l">
              <a:lnSpc>
                <a:spcPts val="5316"/>
              </a:lnSpc>
            </a:pPr>
          </a:p>
          <a:p>
            <a:pPr algn="l" marL="856557" indent="-428279" lvl="1">
              <a:lnSpc>
                <a:spcPts val="5316"/>
              </a:lnSpc>
              <a:buFont typeface="Arial"/>
              <a:buChar char="•"/>
            </a:pP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Images resized to 224×224 and n</a:t>
            </a: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ormalized with ImageNet statistics.</a:t>
            </a:r>
          </a:p>
          <a:p>
            <a:pPr algn="l">
              <a:lnSpc>
                <a:spcPts val="5316"/>
              </a:lnSpc>
            </a:pPr>
          </a:p>
          <a:p>
            <a:pPr algn="l" marL="856557" indent="-428279" lvl="1">
              <a:lnSpc>
                <a:spcPts val="5316"/>
              </a:lnSpc>
              <a:buFont typeface="Arial"/>
              <a:buChar char="•"/>
            </a:pP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Train/Validation/Test split: 70/20/10.</a:t>
            </a:r>
          </a:p>
          <a:p>
            <a:pPr algn="l">
              <a:lnSpc>
                <a:spcPts val="5316"/>
              </a:lnSpc>
            </a:pPr>
          </a:p>
          <a:p>
            <a:pPr algn="l">
              <a:lnSpc>
                <a:spcPts val="531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64641" y="2697780"/>
            <a:ext cx="6630779" cy="7068493"/>
          </a:xfrm>
          <a:custGeom>
            <a:avLst/>
            <a:gdLst/>
            <a:ahLst/>
            <a:cxnLst/>
            <a:rect r="r" b="b" t="t" l="l"/>
            <a:pathLst>
              <a:path h="7068493" w="6630779">
                <a:moveTo>
                  <a:pt x="0" y="0"/>
                </a:moveTo>
                <a:lnTo>
                  <a:pt x="6630779" y="0"/>
                </a:lnTo>
                <a:lnTo>
                  <a:pt x="6630779" y="7068493"/>
                </a:lnTo>
                <a:lnTo>
                  <a:pt x="0" y="70684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56547" y="427788"/>
            <a:ext cx="12889490" cy="110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0"/>
              </a:lnSpc>
              <a:spcBef>
                <a:spcPct val="0"/>
              </a:spcBef>
            </a:pPr>
            <a:r>
              <a:rPr lang="en-US" b="true" sz="66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EXTREME CLASS IMBALANCE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89839" y="2249580"/>
            <a:ext cx="11192580" cy="751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Th</a:t>
            </a:r>
            <a:r>
              <a:rPr lang="en-US" sz="36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 dataset is highly skewed towards flooded scenes.</a:t>
            </a:r>
          </a:p>
          <a:p>
            <a:pPr algn="l">
              <a:lnSpc>
                <a:spcPts val="4914"/>
              </a:lnSpc>
            </a:pPr>
          </a:p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About 99.55% flooded vs 0.45% non-flooded images.</a:t>
            </a:r>
          </a:p>
          <a:p>
            <a:pPr algn="l">
              <a:lnSpc>
                <a:spcPts val="4914"/>
              </a:lnSpc>
            </a:pPr>
          </a:p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A trivial model that always predicts “flooded” already reaches ~99.7% accuracy.</a:t>
            </a:r>
          </a:p>
          <a:p>
            <a:pPr algn="l">
              <a:lnSpc>
                <a:spcPts val="4914"/>
              </a:lnSpc>
            </a:pPr>
          </a:p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Therefore, we focus on ROC-AUC and minority-class metrics, not just accuracy.</a:t>
            </a:r>
          </a:p>
          <a:p>
            <a:pPr algn="l">
              <a:lnSpc>
                <a:spcPts val="491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33802" y="2107407"/>
            <a:ext cx="13620396" cy="8179593"/>
            <a:chOff x="0" y="0"/>
            <a:chExt cx="3343890" cy="2008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43890" cy="2008140"/>
            </a:xfrm>
            <a:custGeom>
              <a:avLst/>
              <a:gdLst/>
              <a:ahLst/>
              <a:cxnLst/>
              <a:rect r="r" b="b" t="t" l="l"/>
              <a:pathLst>
                <a:path h="2008140" w="3343890">
                  <a:moveTo>
                    <a:pt x="56841" y="0"/>
                  </a:moveTo>
                  <a:lnTo>
                    <a:pt x="3287049" y="0"/>
                  </a:lnTo>
                  <a:cubicBezTo>
                    <a:pt x="3302124" y="0"/>
                    <a:pt x="3316582" y="5989"/>
                    <a:pt x="3327242" y="16648"/>
                  </a:cubicBezTo>
                  <a:cubicBezTo>
                    <a:pt x="3337902" y="27308"/>
                    <a:pt x="3343890" y="41766"/>
                    <a:pt x="3343890" y="56841"/>
                  </a:cubicBezTo>
                  <a:lnTo>
                    <a:pt x="3343890" y="1951299"/>
                  </a:lnTo>
                  <a:cubicBezTo>
                    <a:pt x="3343890" y="1966375"/>
                    <a:pt x="3337902" y="1980832"/>
                    <a:pt x="3327242" y="1991492"/>
                  </a:cubicBezTo>
                  <a:cubicBezTo>
                    <a:pt x="3316582" y="2002151"/>
                    <a:pt x="3302124" y="2008140"/>
                    <a:pt x="3287049" y="2008140"/>
                  </a:cubicBezTo>
                  <a:lnTo>
                    <a:pt x="56841" y="2008140"/>
                  </a:lnTo>
                  <a:cubicBezTo>
                    <a:pt x="41766" y="2008140"/>
                    <a:pt x="27308" y="2002151"/>
                    <a:pt x="16648" y="1991492"/>
                  </a:cubicBezTo>
                  <a:cubicBezTo>
                    <a:pt x="5989" y="1980832"/>
                    <a:pt x="0" y="1966375"/>
                    <a:pt x="0" y="1951299"/>
                  </a:cubicBezTo>
                  <a:lnTo>
                    <a:pt x="0" y="56841"/>
                  </a:lnTo>
                  <a:cubicBezTo>
                    <a:pt x="0" y="41766"/>
                    <a:pt x="5989" y="27308"/>
                    <a:pt x="16648" y="16648"/>
                  </a:cubicBezTo>
                  <a:cubicBezTo>
                    <a:pt x="27308" y="5989"/>
                    <a:pt x="41766" y="0"/>
                    <a:pt x="568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343890" cy="203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052485" y="912245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86607" y="160189"/>
            <a:ext cx="7957229" cy="1194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4"/>
              </a:lnSpc>
              <a:spcBef>
                <a:spcPct val="0"/>
              </a:spcBef>
            </a:pPr>
            <a:r>
              <a:rPr lang="en-US" b="true" sz="72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SAMPLE IMAGES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33802" y="2583904"/>
            <a:ext cx="13620396" cy="821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610" indent="-374305" lvl="1">
              <a:lnSpc>
                <a:spcPts val="4646"/>
              </a:lnSpc>
              <a:buFont typeface="Arial"/>
              <a:buChar char="•"/>
            </a:pPr>
            <a:r>
              <a:rPr lang="en-US" sz="34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Flooded examples show:</a:t>
            </a:r>
          </a:p>
          <a:p>
            <a:pPr algn="l">
              <a:lnSpc>
                <a:spcPts val="4646"/>
              </a:lnSpc>
            </a:pPr>
          </a:p>
          <a:p>
            <a:pPr algn="l" marL="748610" indent="-374305" lvl="1">
              <a:lnSpc>
                <a:spcPts val="4646"/>
              </a:lnSpc>
              <a:buFont typeface="Arial"/>
              <a:buChar char="•"/>
            </a:pPr>
            <a:r>
              <a:rPr lang="en-US" sz="34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Submerged vehicles</a:t>
            </a:r>
          </a:p>
          <a:p>
            <a:pPr algn="l">
              <a:lnSpc>
                <a:spcPts val="4646"/>
              </a:lnSpc>
            </a:pPr>
          </a:p>
          <a:p>
            <a:pPr algn="l" marL="748610" indent="-374305" lvl="1">
              <a:lnSpc>
                <a:spcPts val="4646"/>
              </a:lnSpc>
              <a:buFont typeface="Arial"/>
              <a:buChar char="•"/>
            </a:pPr>
            <a:r>
              <a:rPr lang="en-US" sz="34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Houses wi</a:t>
            </a:r>
            <a:r>
              <a:rPr lang="en-US" sz="34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 water up to doors/windows</a:t>
            </a:r>
          </a:p>
          <a:p>
            <a:pPr algn="l">
              <a:lnSpc>
                <a:spcPts val="4646"/>
              </a:lnSpc>
            </a:pPr>
          </a:p>
          <a:p>
            <a:pPr algn="l" marL="748610" indent="-374305" lvl="1">
              <a:lnSpc>
                <a:spcPts val="4646"/>
              </a:lnSpc>
              <a:buFont typeface="Arial"/>
              <a:buChar char="•"/>
            </a:pPr>
            <a:r>
              <a:rPr lang="en-US" sz="34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Damaged roads and infrastructure</a:t>
            </a:r>
          </a:p>
          <a:p>
            <a:pPr algn="l">
              <a:lnSpc>
                <a:spcPts val="4646"/>
              </a:lnSpc>
            </a:pPr>
          </a:p>
          <a:p>
            <a:pPr algn="l" marL="748610" indent="-374305" lvl="1">
              <a:lnSpc>
                <a:spcPts val="4646"/>
              </a:lnSpc>
              <a:buFont typeface="Arial"/>
              <a:buChar char="•"/>
            </a:pPr>
            <a:r>
              <a:rPr lang="en-US" sz="34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Very few non-flooded examples, mostly normal roads/buildings.</a:t>
            </a:r>
          </a:p>
          <a:p>
            <a:pPr algn="l">
              <a:lnSpc>
                <a:spcPts val="4646"/>
              </a:lnSpc>
            </a:pPr>
          </a:p>
          <a:p>
            <a:pPr algn="l" marL="748610" indent="-374305" lvl="1">
              <a:lnSpc>
                <a:spcPts val="4646"/>
              </a:lnSpc>
              <a:buFont typeface="Arial"/>
              <a:buChar char="•"/>
            </a:pPr>
            <a:r>
              <a:rPr lang="en-US" sz="34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Visual inspection confirms that flood cues are clear but diverse.</a:t>
            </a:r>
          </a:p>
          <a:p>
            <a:pPr algn="l">
              <a:lnSpc>
                <a:spcPts val="4646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594249" y="720090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89159" y="3580808"/>
            <a:ext cx="4947372" cy="4083831"/>
          </a:xfrm>
          <a:custGeom>
            <a:avLst/>
            <a:gdLst/>
            <a:ahLst/>
            <a:cxnLst/>
            <a:rect r="r" b="b" t="t" l="l"/>
            <a:pathLst>
              <a:path h="4083831" w="4947372">
                <a:moveTo>
                  <a:pt x="0" y="0"/>
                </a:moveTo>
                <a:lnTo>
                  <a:pt x="4947372" y="0"/>
                </a:lnTo>
                <a:lnTo>
                  <a:pt x="4947372" y="4083831"/>
                </a:lnTo>
                <a:lnTo>
                  <a:pt x="0" y="40838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27788"/>
            <a:ext cx="16807831" cy="110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0"/>
              </a:lnSpc>
              <a:spcBef>
                <a:spcPct val="0"/>
              </a:spcBef>
            </a:pPr>
            <a:r>
              <a:rPr lang="en-US" b="true" sz="66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PREPROCESSING &amp; DATA PIPELINE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2088534"/>
            <a:ext cx="12666614" cy="788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sz="3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Us</a:t>
            </a:r>
            <a:r>
              <a:rPr lang="en-US" sz="3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ed PyTorch ImageFolder for loading images.</a:t>
            </a:r>
          </a:p>
          <a:p>
            <a:pPr algn="l">
              <a:lnSpc>
                <a:spcPts val="4780"/>
              </a:lnSpc>
            </a:pP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sz="3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Transforms (Train):</a:t>
            </a:r>
          </a:p>
          <a:p>
            <a:pPr algn="l">
              <a:lnSpc>
                <a:spcPts val="4780"/>
              </a:lnSpc>
            </a:pP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sz="3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Random horizontal flip, rotation, brightness/contrast jitter.</a:t>
            </a: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sz="3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Transforms (Val/Test):</a:t>
            </a:r>
          </a:p>
          <a:p>
            <a:pPr algn="l">
              <a:lnSpc>
                <a:spcPts val="4780"/>
              </a:lnSpc>
            </a:pP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sz="3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Resize + center crop + normalization only.</a:t>
            </a:r>
          </a:p>
          <a:p>
            <a:pPr algn="l">
              <a:lnSpc>
                <a:spcPts val="4780"/>
              </a:lnSpc>
            </a:pP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sz="3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Dataloaders created for train, validation, test with batch size 32.</a:t>
            </a:r>
          </a:p>
          <a:p>
            <a:pPr algn="l">
              <a:lnSpc>
                <a:spcPts val="47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694749" y="2674876"/>
            <a:ext cx="6737985" cy="8229600"/>
          </a:xfrm>
          <a:custGeom>
            <a:avLst/>
            <a:gdLst/>
            <a:ahLst/>
            <a:cxnLst/>
            <a:rect r="r" b="b" t="t" l="l"/>
            <a:pathLst>
              <a:path h="8229600" w="6737985">
                <a:moveTo>
                  <a:pt x="0" y="0"/>
                </a:moveTo>
                <a:lnTo>
                  <a:pt x="6737985" y="0"/>
                </a:lnTo>
                <a:lnTo>
                  <a:pt x="673798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3221" y="546333"/>
            <a:ext cx="16338851" cy="9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8"/>
              </a:lnSpc>
              <a:spcBef>
                <a:spcPct val="0"/>
              </a:spcBef>
            </a:pPr>
            <a:r>
              <a:rPr lang="en-US" b="true" sz="58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BASELINE CNN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98487" y="4451866"/>
            <a:ext cx="2173187" cy="781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Virtu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al Assistants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97632" y="4411019"/>
            <a:ext cx="2777801" cy="81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ecommendation Systems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15424" y="4514681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66264" y="5908839"/>
            <a:ext cx="2173187" cy="74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Healthcare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Tools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15424" y="5975074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04.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50740" y="2688786"/>
            <a:ext cx="12437260" cy="662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1326" indent="-460663" lvl="1">
              <a:lnSpc>
                <a:spcPts val="5718"/>
              </a:lnSpc>
              <a:buFont typeface="Arial"/>
              <a:buChar char="•"/>
            </a:pPr>
            <a:r>
              <a:rPr lang="en-US" sz="42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Custom CNN</a:t>
            </a:r>
            <a:r>
              <a:rPr lang="en-US" sz="42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implemented in PyTorch:</a:t>
            </a:r>
          </a:p>
          <a:p>
            <a:pPr algn="l" marL="921326" indent="-460663" lvl="1">
              <a:lnSpc>
                <a:spcPts val="5718"/>
              </a:lnSpc>
              <a:buFont typeface="Arial"/>
              <a:buChar char="•"/>
            </a:pPr>
            <a:r>
              <a:rPr lang="en-US" sz="42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Conv2d (32 filters) → ReLU → MaxPool</a:t>
            </a:r>
          </a:p>
          <a:p>
            <a:pPr algn="l" marL="921326" indent="-460663" lvl="1">
              <a:lnSpc>
                <a:spcPts val="5718"/>
              </a:lnSpc>
              <a:buFont typeface="Arial"/>
              <a:buChar char="•"/>
            </a:pPr>
            <a:r>
              <a:rPr lang="en-US" sz="42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Conv2d (64 filters) → ReLU → MaxPool</a:t>
            </a:r>
          </a:p>
          <a:p>
            <a:pPr algn="l" marL="921326" indent="-460663" lvl="1">
              <a:lnSpc>
                <a:spcPts val="5718"/>
              </a:lnSpc>
              <a:buFont typeface="Arial"/>
              <a:buChar char="•"/>
            </a:pPr>
            <a:r>
              <a:rPr lang="en-US" sz="42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Flatten → Fully connected (128 units) → ReLU</a:t>
            </a:r>
          </a:p>
          <a:p>
            <a:pPr algn="l" marL="921326" indent="-460663" lvl="1">
              <a:lnSpc>
                <a:spcPts val="5718"/>
              </a:lnSpc>
              <a:buFont typeface="Arial"/>
              <a:buChar char="•"/>
            </a:pPr>
            <a:r>
              <a:rPr lang="en-US" sz="42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Final fully connected layer → 1 output (logit)</a:t>
            </a:r>
          </a:p>
          <a:p>
            <a:pPr algn="l" marL="921326" indent="-460663" lvl="1">
              <a:lnSpc>
                <a:spcPts val="5718"/>
              </a:lnSpc>
              <a:buFont typeface="Arial"/>
              <a:buChar char="•"/>
            </a:pPr>
            <a:r>
              <a:rPr lang="en-US" sz="42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Loss: BCEWithLogitsLoss</a:t>
            </a:r>
          </a:p>
          <a:p>
            <a:pPr algn="l" marL="921326" indent="-460663" lvl="1">
              <a:lnSpc>
                <a:spcPts val="5718"/>
              </a:lnSpc>
              <a:buFont typeface="Arial"/>
              <a:buChar char="•"/>
            </a:pPr>
            <a:r>
              <a:rPr lang="en-US" sz="42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Optimizer: Adam, LR = 0.001</a:t>
            </a:r>
          </a:p>
          <a:p>
            <a:pPr algn="l" marL="921326" indent="-460663" lvl="1">
              <a:lnSpc>
                <a:spcPts val="5718"/>
              </a:lnSpc>
              <a:buFont typeface="Arial"/>
              <a:buChar char="•"/>
            </a:pPr>
            <a:r>
              <a:rPr lang="en-US" sz="42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Training: 5 epochs, batch size 32.</a:t>
            </a:r>
          </a:p>
          <a:p>
            <a:pPr algn="l">
              <a:lnSpc>
                <a:spcPts val="5718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92170" y="3338215"/>
            <a:ext cx="2700042" cy="5106463"/>
          </a:xfrm>
          <a:custGeom>
            <a:avLst/>
            <a:gdLst/>
            <a:ahLst/>
            <a:cxnLst/>
            <a:rect r="r" b="b" t="t" l="l"/>
            <a:pathLst>
              <a:path h="5106463" w="2700042">
                <a:moveTo>
                  <a:pt x="0" y="0"/>
                </a:moveTo>
                <a:lnTo>
                  <a:pt x="2700042" y="0"/>
                </a:lnTo>
                <a:lnTo>
                  <a:pt x="2700042" y="5106463"/>
                </a:lnTo>
                <a:lnTo>
                  <a:pt x="0" y="5106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6085" y="362118"/>
            <a:ext cx="17495830" cy="93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4"/>
              </a:lnSpc>
              <a:spcBef>
                <a:spcPct val="0"/>
              </a:spcBef>
            </a:pPr>
            <a:r>
              <a:rPr lang="en-US" b="true" sz="57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BASELINE CNN TRAINING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92212" y="1908020"/>
            <a:ext cx="14399703" cy="943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6557" indent="-428279" lvl="1">
              <a:lnSpc>
                <a:spcPts val="5316"/>
              </a:lnSpc>
              <a:buFont typeface="Arial"/>
              <a:buChar char="•"/>
            </a:pP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</a:t>
            </a: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rain accuracy quickly reached ≈ 0.9947, validation accuracy ≈ 0.9973.</a:t>
            </a:r>
          </a:p>
          <a:p>
            <a:pPr algn="just">
              <a:lnSpc>
                <a:spcPts val="5316"/>
              </a:lnSpc>
            </a:pPr>
          </a:p>
          <a:p>
            <a:pPr algn="just" marL="856557" indent="-428279" lvl="1">
              <a:lnSpc>
                <a:spcPts val="5316"/>
              </a:lnSpc>
              <a:buFont typeface="Arial"/>
              <a:buChar char="•"/>
            </a:pP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Training and validation loss both decreased smoothly over 5 epochs.</a:t>
            </a:r>
          </a:p>
          <a:p>
            <a:pPr algn="just">
              <a:lnSpc>
                <a:spcPts val="5316"/>
              </a:lnSpc>
            </a:pPr>
          </a:p>
          <a:p>
            <a:pPr algn="just" marL="856557" indent="-428279" lvl="1">
              <a:lnSpc>
                <a:spcPts val="5316"/>
              </a:lnSpc>
              <a:buFont typeface="Arial"/>
              <a:buChar char="•"/>
            </a:pP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Validation ROC-AUC values were in the 0.35–0.64 range due to very few non-flooded samples in the validation set.</a:t>
            </a:r>
          </a:p>
          <a:p>
            <a:pPr algn="just">
              <a:lnSpc>
                <a:spcPts val="5316"/>
              </a:lnSpc>
            </a:pPr>
          </a:p>
          <a:p>
            <a:pPr algn="just" marL="856557" indent="-428279" lvl="1">
              <a:lnSpc>
                <a:spcPts val="5316"/>
              </a:lnSpc>
              <a:buFont typeface="Arial"/>
              <a:buChar char="•"/>
            </a:pPr>
            <a:r>
              <a:rPr lang="en-US" sz="3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Indicates good fit to the majority class but unstable behaviour on minority examples.</a:t>
            </a:r>
          </a:p>
          <a:p>
            <a:pPr algn="just">
              <a:lnSpc>
                <a:spcPts val="5316"/>
              </a:lnSpc>
            </a:pPr>
          </a:p>
          <a:p>
            <a:pPr algn="just">
              <a:lnSpc>
                <a:spcPts val="531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126015" y="1558180"/>
            <a:ext cx="7269480" cy="8082116"/>
          </a:xfrm>
          <a:custGeom>
            <a:avLst/>
            <a:gdLst/>
            <a:ahLst/>
            <a:cxnLst/>
            <a:rect r="r" b="b" t="t" l="l"/>
            <a:pathLst>
              <a:path h="8082116" w="7269480">
                <a:moveTo>
                  <a:pt x="0" y="0"/>
                </a:moveTo>
                <a:lnTo>
                  <a:pt x="7269480" y="0"/>
                </a:lnTo>
                <a:lnTo>
                  <a:pt x="7269480" y="8082117"/>
                </a:lnTo>
                <a:lnTo>
                  <a:pt x="0" y="8082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0" t="-2762" r="-46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4183" y="235746"/>
            <a:ext cx="17150012" cy="103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4"/>
              </a:lnSpc>
              <a:spcBef>
                <a:spcPct val="0"/>
              </a:spcBef>
            </a:pPr>
            <a:r>
              <a:rPr lang="en-US" b="true" sz="62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BASELINE CNN TEST PERFORMANCE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4009" y="2058563"/>
            <a:ext cx="10802006" cy="808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842" indent="-341921" lvl="1">
              <a:lnSpc>
                <a:spcPts val="4244"/>
              </a:lnSpc>
              <a:buFont typeface="Arial"/>
              <a:buChar char="•"/>
            </a:pPr>
            <a:r>
              <a:rPr lang="en-US" b="true" sz="31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Test Acc</a:t>
            </a:r>
            <a:r>
              <a:rPr lang="en-US" b="true" sz="31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uracy: ~0.997 (similar to majority baseline).</a:t>
            </a:r>
          </a:p>
          <a:p>
            <a:pPr algn="l">
              <a:lnSpc>
                <a:spcPts val="4244"/>
              </a:lnSpc>
            </a:pPr>
          </a:p>
          <a:p>
            <a:pPr algn="l" marL="683842" indent="-341921" lvl="1">
              <a:lnSpc>
                <a:spcPts val="4244"/>
              </a:lnSpc>
              <a:buFont typeface="Arial"/>
              <a:buChar char="•"/>
            </a:pPr>
            <a:r>
              <a:rPr lang="en-US" b="true" sz="31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Test ROC-AUC: 0.83 – much higher than random (0.5).</a:t>
            </a:r>
          </a:p>
          <a:p>
            <a:pPr algn="l">
              <a:lnSpc>
                <a:spcPts val="4244"/>
              </a:lnSpc>
            </a:pPr>
          </a:p>
          <a:p>
            <a:pPr algn="l" marL="683842" indent="-341921" lvl="1">
              <a:lnSpc>
                <a:spcPts val="4244"/>
              </a:lnSpc>
              <a:buFont typeface="Arial"/>
              <a:buChar char="•"/>
            </a:pPr>
            <a:r>
              <a:rPr lang="en-US" b="true" sz="31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This means the CNN has learned meaningful visual features for floods.</a:t>
            </a:r>
          </a:p>
          <a:p>
            <a:pPr algn="l">
              <a:lnSpc>
                <a:spcPts val="4244"/>
              </a:lnSpc>
            </a:pPr>
          </a:p>
          <a:p>
            <a:pPr algn="l" marL="683842" indent="-341921" lvl="1">
              <a:lnSpc>
                <a:spcPts val="4244"/>
              </a:lnSpc>
              <a:buFont typeface="Arial"/>
              <a:buChar char="•"/>
            </a:pPr>
            <a:r>
              <a:rPr lang="en-US" b="true" sz="31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However, because the test set has very few non-flooded images,</a:t>
            </a:r>
          </a:p>
          <a:p>
            <a:pPr algn="l">
              <a:lnSpc>
                <a:spcPts val="4244"/>
              </a:lnSpc>
            </a:pPr>
          </a:p>
          <a:p>
            <a:pPr algn="l" marL="683842" indent="-341921" lvl="1">
              <a:lnSpc>
                <a:spcPts val="4244"/>
              </a:lnSpc>
              <a:buFont typeface="Arial"/>
              <a:buChar char="•"/>
            </a:pPr>
            <a:r>
              <a:rPr lang="en-US" b="true" sz="31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precision, recall, and F1 for that class are still unstable and can drop to 0 if the model misses them.</a:t>
            </a:r>
          </a:p>
          <a:p>
            <a:pPr algn="l">
              <a:lnSpc>
                <a:spcPts val="424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694749" y="2674876"/>
            <a:ext cx="6737985" cy="8229600"/>
          </a:xfrm>
          <a:custGeom>
            <a:avLst/>
            <a:gdLst/>
            <a:ahLst/>
            <a:cxnLst/>
            <a:rect r="r" b="b" t="t" l="l"/>
            <a:pathLst>
              <a:path h="8229600" w="6737985">
                <a:moveTo>
                  <a:pt x="0" y="0"/>
                </a:moveTo>
                <a:lnTo>
                  <a:pt x="6737985" y="0"/>
                </a:lnTo>
                <a:lnTo>
                  <a:pt x="673798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3221" y="546333"/>
            <a:ext cx="16338851" cy="9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8"/>
              </a:lnSpc>
              <a:spcBef>
                <a:spcPct val="0"/>
              </a:spcBef>
            </a:pPr>
            <a:r>
              <a:rPr lang="en-US" b="true" sz="58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TRANSFER LEARNING WITH RESNET-50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98487" y="4451866"/>
            <a:ext cx="2173187" cy="781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Virtu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al Assistants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97632" y="4411019"/>
            <a:ext cx="2777801" cy="81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ecommendation Systems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15424" y="4514681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66264" y="5908839"/>
            <a:ext cx="2173187" cy="74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Healthcare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Tools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15424" y="5975074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04.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50740" y="2145246"/>
            <a:ext cx="12437260" cy="855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9736" indent="-449868" lvl="1">
              <a:lnSpc>
                <a:spcPts val="5584"/>
              </a:lnSpc>
              <a:buFont typeface="Arial"/>
              <a:buChar char="•"/>
            </a:pPr>
            <a:r>
              <a:rPr lang="en-US" sz="41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Us</a:t>
            </a:r>
            <a:r>
              <a:rPr lang="en-US" sz="41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ed pretrained ResNet-50 (ImageNet) as backbone.</a:t>
            </a:r>
          </a:p>
          <a:p>
            <a:pPr algn="l">
              <a:lnSpc>
                <a:spcPts val="5584"/>
              </a:lnSpc>
            </a:pPr>
          </a:p>
          <a:p>
            <a:pPr algn="l" marL="899736" indent="-449868" lvl="1">
              <a:lnSpc>
                <a:spcPts val="5584"/>
              </a:lnSpc>
              <a:buFont typeface="Arial"/>
              <a:buChar char="•"/>
            </a:pPr>
            <a:r>
              <a:rPr lang="en-US" sz="41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Replaced final fully connected layer for binary classification.</a:t>
            </a:r>
          </a:p>
          <a:p>
            <a:pPr algn="l">
              <a:lnSpc>
                <a:spcPts val="5584"/>
              </a:lnSpc>
            </a:pPr>
          </a:p>
          <a:p>
            <a:pPr algn="l" marL="899736" indent="-449868" lvl="1">
              <a:lnSpc>
                <a:spcPts val="5584"/>
              </a:lnSpc>
              <a:buFont typeface="Arial"/>
              <a:buChar char="•"/>
            </a:pPr>
            <a:r>
              <a:rPr lang="en-US" sz="41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Earl</a:t>
            </a:r>
            <a:r>
              <a:rPr lang="en-US" sz="41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ier layers initially frozen, then fine-tuned on FloodIMG.</a:t>
            </a:r>
          </a:p>
          <a:p>
            <a:pPr algn="l">
              <a:lnSpc>
                <a:spcPts val="5584"/>
              </a:lnSpc>
            </a:pPr>
          </a:p>
          <a:p>
            <a:pPr algn="l" marL="899736" indent="-449868" lvl="1">
              <a:lnSpc>
                <a:spcPts val="5584"/>
              </a:lnSpc>
              <a:buFont typeface="Arial"/>
              <a:buChar char="•"/>
            </a:pPr>
            <a:r>
              <a:rPr lang="en-US" sz="41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Same preprocessing, split, and metrics as the baseline.</a:t>
            </a:r>
          </a:p>
          <a:p>
            <a:pPr algn="l">
              <a:lnSpc>
                <a:spcPts val="5584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33802" y="2107407"/>
            <a:ext cx="13620396" cy="8179593"/>
            <a:chOff x="0" y="0"/>
            <a:chExt cx="3343890" cy="2008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43890" cy="2008140"/>
            </a:xfrm>
            <a:custGeom>
              <a:avLst/>
              <a:gdLst/>
              <a:ahLst/>
              <a:cxnLst/>
              <a:rect r="r" b="b" t="t" l="l"/>
              <a:pathLst>
                <a:path h="2008140" w="3343890">
                  <a:moveTo>
                    <a:pt x="56841" y="0"/>
                  </a:moveTo>
                  <a:lnTo>
                    <a:pt x="3287049" y="0"/>
                  </a:lnTo>
                  <a:cubicBezTo>
                    <a:pt x="3302124" y="0"/>
                    <a:pt x="3316582" y="5989"/>
                    <a:pt x="3327242" y="16648"/>
                  </a:cubicBezTo>
                  <a:cubicBezTo>
                    <a:pt x="3337902" y="27308"/>
                    <a:pt x="3343890" y="41766"/>
                    <a:pt x="3343890" y="56841"/>
                  </a:cubicBezTo>
                  <a:lnTo>
                    <a:pt x="3343890" y="1951299"/>
                  </a:lnTo>
                  <a:cubicBezTo>
                    <a:pt x="3343890" y="1966375"/>
                    <a:pt x="3337902" y="1980832"/>
                    <a:pt x="3327242" y="1991492"/>
                  </a:cubicBezTo>
                  <a:cubicBezTo>
                    <a:pt x="3316582" y="2002151"/>
                    <a:pt x="3302124" y="2008140"/>
                    <a:pt x="3287049" y="2008140"/>
                  </a:cubicBezTo>
                  <a:lnTo>
                    <a:pt x="56841" y="2008140"/>
                  </a:lnTo>
                  <a:cubicBezTo>
                    <a:pt x="41766" y="2008140"/>
                    <a:pt x="27308" y="2002151"/>
                    <a:pt x="16648" y="1991492"/>
                  </a:cubicBezTo>
                  <a:cubicBezTo>
                    <a:pt x="5989" y="1980832"/>
                    <a:pt x="0" y="1966375"/>
                    <a:pt x="0" y="1951299"/>
                  </a:cubicBezTo>
                  <a:lnTo>
                    <a:pt x="0" y="56841"/>
                  </a:lnTo>
                  <a:cubicBezTo>
                    <a:pt x="0" y="41766"/>
                    <a:pt x="5989" y="27308"/>
                    <a:pt x="16648" y="16648"/>
                  </a:cubicBezTo>
                  <a:cubicBezTo>
                    <a:pt x="27308" y="5989"/>
                    <a:pt x="41766" y="0"/>
                    <a:pt x="568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343890" cy="203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052485" y="912245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72704" y="160189"/>
            <a:ext cx="15886596" cy="1194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4"/>
              </a:lnSpc>
              <a:spcBef>
                <a:spcPct val="0"/>
              </a:spcBef>
            </a:pPr>
            <a:r>
              <a:rPr lang="en-US" b="true" sz="72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RESNET-50: TRAINING VS TEST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33802" y="2195250"/>
            <a:ext cx="13620396" cy="813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On training/validation:</a:t>
            </a:r>
          </a:p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</a:t>
            </a:r>
            <a:r>
              <a:rPr lang="en-US" sz="36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rain accur</a:t>
            </a:r>
            <a:r>
              <a:rPr lang="en-US" sz="36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acy up to 0.9983, validation accuracy around 0.991–0.997.</a:t>
            </a:r>
          </a:p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Validation ROC-AUC between 0.80–0.88, looking very strong.</a:t>
            </a:r>
          </a:p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On the test set, however:</a:t>
            </a:r>
          </a:p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Accuracy = 0.9973 (again very high).</a:t>
            </a:r>
          </a:p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Precision, Recall, F1 = 0.0 for the minority class.</a:t>
            </a:r>
          </a:p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ROC-AUC dropped to 0.40, worse than random.</a:t>
            </a:r>
          </a:p>
          <a:p>
            <a:pPr algn="l" marL="791789" indent="-395894" lvl="1">
              <a:lnSpc>
                <a:spcPts val="4914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6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nterpretation: the ResNet-50 model predicts almost everything as “flooded” and fails to identify non-flooded images.</a:t>
            </a:r>
          </a:p>
          <a:p>
            <a:pPr algn="l">
              <a:lnSpc>
                <a:spcPts val="4914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594249" y="720090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163913" y="485255"/>
            <a:ext cx="9960174" cy="101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0"/>
              </a:lnSpc>
              <a:spcBef>
                <a:spcPct val="0"/>
              </a:spcBef>
            </a:pPr>
            <a:r>
              <a:rPr lang="en-US" b="true" sz="61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 COMPARISON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33009" y="2196745"/>
            <a:ext cx="4298605" cy="4298605"/>
          </a:xfrm>
          <a:custGeom>
            <a:avLst/>
            <a:gdLst/>
            <a:ahLst/>
            <a:cxnLst/>
            <a:rect r="r" b="b" t="t" l="l"/>
            <a:pathLst>
              <a:path h="4298605" w="4298605">
                <a:moveTo>
                  <a:pt x="0" y="0"/>
                </a:moveTo>
                <a:lnTo>
                  <a:pt x="4298605" y="0"/>
                </a:lnTo>
                <a:lnTo>
                  <a:pt x="4298605" y="4298605"/>
                </a:lnTo>
                <a:lnTo>
                  <a:pt x="0" y="429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516883"/>
            <a:ext cx="3355672" cy="176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31614" y="2044345"/>
            <a:ext cx="13556386" cy="788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Compared three models on the test set:</a:t>
            </a: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Majority Baseline (always “flooded”)</a:t>
            </a: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Baseline CNN</a:t>
            </a: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ResNe</a:t>
            </a: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t-50 Transfer Learning</a:t>
            </a: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All have similar accuracy (~0.997) due to heavy imbalance.</a:t>
            </a: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ROC-AUC differentiates them:</a:t>
            </a: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Maj</a:t>
            </a: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ority baseline: 0.50 (random).</a:t>
            </a: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Base</a:t>
            </a: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line CNN: 0.835 (best).</a:t>
            </a: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</a:t>
            </a: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Net-50 TL: 0.400 (overfits majority class).</a:t>
            </a:r>
          </a:p>
          <a:p>
            <a:pPr algn="l" marL="770200" indent="-385100" lvl="1">
              <a:lnSpc>
                <a:spcPts val="4780"/>
              </a:lnSpc>
              <a:buFont typeface="Arial"/>
              <a:buChar char="•"/>
            </a:pP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</a:t>
            </a:r>
            <a:r>
              <a:rPr lang="en-US" b="true" sz="3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on: Baseline CNN is the most useful model despite having the same accuracy, because it offers better class separation.</a:t>
            </a:r>
          </a:p>
          <a:p>
            <a:pPr algn="l">
              <a:lnSpc>
                <a:spcPts val="478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9859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0" y="0"/>
                </a:moveTo>
                <a:lnTo>
                  <a:pt x="3940747" y="0"/>
                </a:lnTo>
                <a:lnTo>
                  <a:pt x="39407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9859" y="235746"/>
            <a:ext cx="17721576" cy="114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2"/>
              </a:lnSpc>
              <a:spcBef>
                <a:spcPct val="0"/>
              </a:spcBef>
            </a:pPr>
            <a:r>
              <a:rPr lang="en-US" b="true" sz="69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CHALLENGES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65025" y="2865642"/>
            <a:ext cx="13780829" cy="645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2747" indent="-411374" lvl="1">
              <a:lnSpc>
                <a:spcPts val="3963"/>
              </a:lnSpc>
              <a:buFont typeface="Arial"/>
              <a:buChar char="•"/>
            </a:pPr>
            <a:r>
              <a:rPr lang="en-US" sz="38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KAGGLE API 403 ERRORS WHEN DOWNLOADING FLOODIMG; REQUIRED CONFIGURING KAGGLE.JSON CORRECTLY.</a:t>
            </a:r>
          </a:p>
          <a:p>
            <a:pPr algn="just">
              <a:lnSpc>
                <a:spcPts val="3963"/>
              </a:lnSpc>
            </a:pPr>
          </a:p>
          <a:p>
            <a:pPr algn="just" marL="822747" indent="-411374" lvl="1">
              <a:lnSpc>
                <a:spcPts val="3963"/>
              </a:lnSpc>
              <a:buFont typeface="Arial"/>
              <a:buChar char="•"/>
            </a:pPr>
            <a:r>
              <a:rPr lang="en-US" sz="38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RESTRUCTURING DATASET INTO FLOODED/ AND NON-FLOODED/ FOLDERS FOR PYTORCH IMAGEFOLDER.</a:t>
            </a:r>
          </a:p>
          <a:p>
            <a:pPr algn="just">
              <a:lnSpc>
                <a:spcPts val="3963"/>
              </a:lnSpc>
            </a:pPr>
          </a:p>
          <a:p>
            <a:pPr algn="just" marL="822747" indent="-411374" lvl="1">
              <a:lnSpc>
                <a:spcPts val="3963"/>
              </a:lnSpc>
              <a:buFont typeface="Arial"/>
              <a:buChar char="•"/>
            </a:pPr>
            <a:r>
              <a:rPr lang="en-US" sz="38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H</a:t>
            </a:r>
            <a:r>
              <a:rPr lang="en-US" sz="38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ANDLING CORRUPTED IMAGES THAT COULD NOT BE LOADED.</a:t>
            </a:r>
          </a:p>
          <a:p>
            <a:pPr algn="just">
              <a:lnSpc>
                <a:spcPts val="3963"/>
              </a:lnSpc>
            </a:pPr>
          </a:p>
          <a:p>
            <a:pPr algn="just" marL="822747" indent="-411374" lvl="1">
              <a:lnSpc>
                <a:spcPts val="3963"/>
              </a:lnSpc>
              <a:buFont typeface="Arial"/>
              <a:buChar char="•"/>
            </a:pPr>
            <a:r>
              <a:rPr lang="en-US" sz="38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DEALING WITH EXTREME CLASS IMBALANCE AND MISLEADING ACCURACY.</a:t>
            </a:r>
          </a:p>
          <a:p>
            <a:pPr algn="just">
              <a:lnSpc>
                <a:spcPts val="3963"/>
              </a:lnSpc>
            </a:pPr>
          </a:p>
          <a:p>
            <a:pPr algn="just" marL="822747" indent="-411374" lvl="1">
              <a:lnSpc>
                <a:spcPts val="3963"/>
              </a:lnSpc>
              <a:buFont typeface="Arial"/>
              <a:buChar char="•"/>
            </a:pPr>
            <a:r>
              <a:rPr lang="en-US" sz="38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OCCASIONAL COLAB GPU TIME LIMITS AND LONG TRAINING RUNS, ESPECIALLY WITH RESNET-50.</a:t>
            </a:r>
          </a:p>
          <a:p>
            <a:pPr algn="just">
              <a:lnSpc>
                <a:spcPts val="3963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076379" y="0"/>
            <a:ext cx="2365842" cy="2522017"/>
          </a:xfrm>
          <a:custGeom>
            <a:avLst/>
            <a:gdLst/>
            <a:ahLst/>
            <a:cxnLst/>
            <a:rect r="r" b="b" t="t" l="l"/>
            <a:pathLst>
              <a:path h="2522017" w="2365842">
                <a:moveTo>
                  <a:pt x="0" y="0"/>
                </a:moveTo>
                <a:lnTo>
                  <a:pt x="2365842" y="0"/>
                </a:lnTo>
                <a:lnTo>
                  <a:pt x="2365842" y="2522017"/>
                </a:lnTo>
                <a:lnTo>
                  <a:pt x="0" y="2522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27788"/>
            <a:ext cx="15317337" cy="110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0"/>
              </a:lnSpc>
              <a:spcBef>
                <a:spcPct val="0"/>
              </a:spcBef>
            </a:pPr>
            <a:r>
              <a:rPr lang="en-US" b="true" sz="66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CONCLUSIONS &amp; FUTURE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7420" y="2189916"/>
            <a:ext cx="18050580" cy="774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378" indent="-406689" lvl="1">
              <a:lnSpc>
                <a:spcPts val="5048"/>
              </a:lnSpc>
              <a:buFont typeface="Arial"/>
              <a:buChar char="•"/>
            </a:pPr>
            <a:r>
              <a:rPr lang="en-US" sz="37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W</a:t>
            </a:r>
            <a:r>
              <a:rPr lang="en-US" sz="37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 implemented and compared two deep learning approaches for flood detection.</a:t>
            </a:r>
          </a:p>
          <a:p>
            <a:pPr algn="l" marL="813378" indent="-406689" lvl="1">
              <a:lnSpc>
                <a:spcPts val="5048"/>
              </a:lnSpc>
              <a:buFont typeface="Arial"/>
              <a:buChar char="•"/>
            </a:pPr>
            <a:r>
              <a:rPr lang="en-US" sz="37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Baseline CNN achieved the best balance with ROC-AUC ≈ 0.83 on the test set.</a:t>
            </a:r>
          </a:p>
          <a:p>
            <a:pPr algn="l" marL="813378" indent="-406689" lvl="1">
              <a:lnSpc>
                <a:spcPts val="5048"/>
              </a:lnSpc>
              <a:buFont typeface="Arial"/>
              <a:buChar char="•"/>
            </a:pPr>
            <a:r>
              <a:rPr lang="en-US" sz="37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Transfer learning wi</a:t>
            </a:r>
            <a:r>
              <a:rPr lang="en-US" sz="37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th ResNet-50 looked strong on validation, but failed on the test set due to class imbalance and overfitting.</a:t>
            </a:r>
          </a:p>
          <a:p>
            <a:pPr algn="l" marL="813378" indent="-406689" lvl="1">
              <a:lnSpc>
                <a:spcPts val="5048"/>
              </a:lnSpc>
              <a:buFont typeface="Arial"/>
              <a:buChar char="•"/>
            </a:pPr>
            <a:r>
              <a:rPr lang="en-US" sz="37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Future improvements:</a:t>
            </a:r>
          </a:p>
          <a:p>
            <a:pPr algn="l" marL="813378" indent="-406689" lvl="1">
              <a:lnSpc>
                <a:spcPts val="5048"/>
              </a:lnSpc>
              <a:buFont typeface="Arial"/>
              <a:buChar char="•"/>
            </a:pPr>
            <a:r>
              <a:rPr lang="en-US" sz="37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Class-weighted or focal loss, oversampling non-flooded images.</a:t>
            </a:r>
          </a:p>
          <a:p>
            <a:pPr algn="l" marL="813378" indent="-406689" lvl="1">
              <a:lnSpc>
                <a:spcPts val="5048"/>
              </a:lnSpc>
              <a:buFont typeface="Arial"/>
              <a:buChar char="•"/>
            </a:pPr>
            <a:r>
              <a:rPr lang="en-US" sz="37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Trying other architectures (EfficientNet, ViT) with better imbalance handling.</a:t>
            </a:r>
          </a:p>
          <a:p>
            <a:pPr algn="l" marL="813378" indent="-406689" lvl="1">
              <a:lnSpc>
                <a:spcPts val="5048"/>
              </a:lnSpc>
              <a:buFont typeface="Arial"/>
              <a:buChar char="•"/>
            </a:pPr>
            <a:r>
              <a:rPr lang="en-US" sz="37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Gen</a:t>
            </a:r>
            <a:r>
              <a:rPr lang="en-US" sz="37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erating Grad-CAM visualizations to show what the network focuses on.</a:t>
            </a:r>
          </a:p>
          <a:p>
            <a:pPr algn="l" marL="813378" indent="-406689" lvl="1">
              <a:lnSpc>
                <a:spcPts val="5048"/>
              </a:lnSpc>
              <a:buFont typeface="Arial"/>
              <a:buChar char="•"/>
            </a:pPr>
            <a:r>
              <a:rPr lang="en-US" sz="37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Building a simple web interface to upload images and get flood predictions.</a:t>
            </a:r>
          </a:p>
          <a:p>
            <a:pPr algn="l">
              <a:lnSpc>
                <a:spcPts val="5048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076379" y="0"/>
            <a:ext cx="2365842" cy="2522017"/>
          </a:xfrm>
          <a:custGeom>
            <a:avLst/>
            <a:gdLst/>
            <a:ahLst/>
            <a:cxnLst/>
            <a:rect r="r" b="b" t="t" l="l"/>
            <a:pathLst>
              <a:path h="2522017" w="2365842">
                <a:moveTo>
                  <a:pt x="0" y="0"/>
                </a:moveTo>
                <a:lnTo>
                  <a:pt x="2365842" y="0"/>
                </a:lnTo>
                <a:lnTo>
                  <a:pt x="2365842" y="2522017"/>
                </a:lnTo>
                <a:lnTo>
                  <a:pt x="0" y="2522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0970" y="2288663"/>
            <a:ext cx="11301259" cy="2246125"/>
          </a:xfrm>
          <a:custGeom>
            <a:avLst/>
            <a:gdLst/>
            <a:ahLst/>
            <a:cxnLst/>
            <a:rect r="r" b="b" t="t" l="l"/>
            <a:pathLst>
              <a:path h="2246125" w="11301259">
                <a:moveTo>
                  <a:pt x="0" y="0"/>
                </a:moveTo>
                <a:lnTo>
                  <a:pt x="11301258" y="0"/>
                </a:lnTo>
                <a:lnTo>
                  <a:pt x="11301258" y="2246125"/>
                </a:lnTo>
                <a:lnTo>
                  <a:pt x="0" y="2246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45885" y="5441391"/>
            <a:ext cx="10280359" cy="3508172"/>
          </a:xfrm>
          <a:custGeom>
            <a:avLst/>
            <a:gdLst/>
            <a:ahLst/>
            <a:cxnLst/>
            <a:rect r="r" b="b" t="t" l="l"/>
            <a:pathLst>
              <a:path h="3508172" w="10280359">
                <a:moveTo>
                  <a:pt x="0" y="0"/>
                </a:moveTo>
                <a:lnTo>
                  <a:pt x="10280359" y="0"/>
                </a:lnTo>
                <a:lnTo>
                  <a:pt x="10280359" y="3508172"/>
                </a:lnTo>
                <a:lnTo>
                  <a:pt x="0" y="35081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27788"/>
            <a:ext cx="15317337" cy="110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0"/>
              </a:lnSpc>
              <a:spcBef>
                <a:spcPct val="0"/>
              </a:spcBef>
            </a:pPr>
            <a:r>
              <a:rPr lang="en-US" b="true" sz="6644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SCREENSHOTS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9574" y="5258688"/>
            <a:ext cx="3343870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 DETAIILS ABOVE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5835" y="1465665"/>
            <a:ext cx="9381730" cy="5722855"/>
          </a:xfrm>
          <a:custGeom>
            <a:avLst/>
            <a:gdLst/>
            <a:ahLst/>
            <a:cxnLst/>
            <a:rect r="r" b="b" t="t" l="l"/>
            <a:pathLst>
              <a:path h="5722855" w="9381730">
                <a:moveTo>
                  <a:pt x="0" y="0"/>
                </a:moveTo>
                <a:lnTo>
                  <a:pt x="9381730" y="0"/>
                </a:lnTo>
                <a:lnTo>
                  <a:pt x="9381730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12971" y="2476946"/>
            <a:ext cx="9349372" cy="4043604"/>
          </a:xfrm>
          <a:custGeom>
            <a:avLst/>
            <a:gdLst/>
            <a:ahLst/>
            <a:cxnLst/>
            <a:rect r="r" b="b" t="t" l="l"/>
            <a:pathLst>
              <a:path h="4043604" w="9349372">
                <a:moveTo>
                  <a:pt x="0" y="0"/>
                </a:moveTo>
                <a:lnTo>
                  <a:pt x="9349373" y="0"/>
                </a:lnTo>
                <a:lnTo>
                  <a:pt x="9349373" y="4043604"/>
                </a:lnTo>
                <a:lnTo>
                  <a:pt x="0" y="4043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4671" y="481638"/>
            <a:ext cx="7712117" cy="3682536"/>
          </a:xfrm>
          <a:custGeom>
            <a:avLst/>
            <a:gdLst/>
            <a:ahLst/>
            <a:cxnLst/>
            <a:rect r="r" b="b" t="t" l="l"/>
            <a:pathLst>
              <a:path h="3682536" w="7712117">
                <a:moveTo>
                  <a:pt x="0" y="0"/>
                </a:moveTo>
                <a:lnTo>
                  <a:pt x="7712116" y="0"/>
                </a:lnTo>
                <a:lnTo>
                  <a:pt x="7712116" y="3682536"/>
                </a:lnTo>
                <a:lnTo>
                  <a:pt x="0" y="3682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38612" y="60514"/>
            <a:ext cx="7620688" cy="4524783"/>
          </a:xfrm>
          <a:custGeom>
            <a:avLst/>
            <a:gdLst/>
            <a:ahLst/>
            <a:cxnLst/>
            <a:rect r="r" b="b" t="t" l="l"/>
            <a:pathLst>
              <a:path h="4524783" w="7620688">
                <a:moveTo>
                  <a:pt x="0" y="0"/>
                </a:moveTo>
                <a:lnTo>
                  <a:pt x="7620688" y="0"/>
                </a:lnTo>
                <a:lnTo>
                  <a:pt x="7620688" y="4524784"/>
                </a:lnTo>
                <a:lnTo>
                  <a:pt x="0" y="4524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090564"/>
            <a:ext cx="12901858" cy="1707232"/>
          </a:xfrm>
          <a:custGeom>
            <a:avLst/>
            <a:gdLst/>
            <a:ahLst/>
            <a:cxnLst/>
            <a:rect r="r" b="b" t="t" l="l"/>
            <a:pathLst>
              <a:path h="1707232" w="12901858">
                <a:moveTo>
                  <a:pt x="0" y="0"/>
                </a:moveTo>
                <a:lnTo>
                  <a:pt x="12901858" y="0"/>
                </a:lnTo>
                <a:lnTo>
                  <a:pt x="12901858" y="1707233"/>
                </a:lnTo>
                <a:lnTo>
                  <a:pt x="0" y="1707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37" t="-6613" r="-83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4671" y="5114925"/>
            <a:ext cx="7783320" cy="413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b="true" sz="2544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TRAINING ACCURACY OF 99.7%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38659" y="1341861"/>
            <a:ext cx="7520641" cy="5085833"/>
          </a:xfrm>
          <a:custGeom>
            <a:avLst/>
            <a:gdLst/>
            <a:ahLst/>
            <a:cxnLst/>
            <a:rect r="r" b="b" t="t" l="l"/>
            <a:pathLst>
              <a:path h="5085833" w="7520641">
                <a:moveTo>
                  <a:pt x="0" y="0"/>
                </a:moveTo>
                <a:lnTo>
                  <a:pt x="7520641" y="0"/>
                </a:lnTo>
                <a:lnTo>
                  <a:pt x="7520641" y="5085833"/>
                </a:lnTo>
                <a:lnTo>
                  <a:pt x="0" y="5085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7848428" cy="5572384"/>
          </a:xfrm>
          <a:custGeom>
            <a:avLst/>
            <a:gdLst/>
            <a:ahLst/>
            <a:cxnLst/>
            <a:rect r="r" b="b" t="t" l="l"/>
            <a:pathLst>
              <a:path h="5572384" w="7848428">
                <a:moveTo>
                  <a:pt x="0" y="0"/>
                </a:moveTo>
                <a:lnTo>
                  <a:pt x="7848428" y="0"/>
                </a:lnTo>
                <a:lnTo>
                  <a:pt x="7848428" y="5572384"/>
                </a:lnTo>
                <a:lnTo>
                  <a:pt x="0" y="55723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14781"/>
            <a:ext cx="11301259" cy="1907087"/>
          </a:xfrm>
          <a:custGeom>
            <a:avLst/>
            <a:gdLst/>
            <a:ahLst/>
            <a:cxnLst/>
            <a:rect r="r" b="b" t="t" l="l"/>
            <a:pathLst>
              <a:path h="1907087" w="11301259">
                <a:moveTo>
                  <a:pt x="0" y="0"/>
                </a:moveTo>
                <a:lnTo>
                  <a:pt x="11301259" y="0"/>
                </a:lnTo>
                <a:lnTo>
                  <a:pt x="11301259" y="1907087"/>
                </a:lnTo>
                <a:lnTo>
                  <a:pt x="0" y="1907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09841" y="2721868"/>
            <a:ext cx="8930931" cy="5793942"/>
          </a:xfrm>
          <a:custGeom>
            <a:avLst/>
            <a:gdLst/>
            <a:ahLst/>
            <a:cxnLst/>
            <a:rect r="r" b="b" t="t" l="l"/>
            <a:pathLst>
              <a:path h="5793942" w="8930931">
                <a:moveTo>
                  <a:pt x="0" y="0"/>
                </a:moveTo>
                <a:lnTo>
                  <a:pt x="8930931" y="0"/>
                </a:lnTo>
                <a:lnTo>
                  <a:pt x="8930931" y="5793942"/>
                </a:lnTo>
                <a:lnTo>
                  <a:pt x="0" y="57939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2977" y="411052"/>
            <a:ext cx="13459255" cy="9464896"/>
          </a:xfrm>
          <a:custGeom>
            <a:avLst/>
            <a:gdLst/>
            <a:ahLst/>
            <a:cxnLst/>
            <a:rect r="r" b="b" t="t" l="l"/>
            <a:pathLst>
              <a:path h="9464896" w="13459255">
                <a:moveTo>
                  <a:pt x="0" y="0"/>
                </a:moveTo>
                <a:lnTo>
                  <a:pt x="13459255" y="0"/>
                </a:lnTo>
                <a:lnTo>
                  <a:pt x="13459255" y="9464896"/>
                </a:lnTo>
                <a:lnTo>
                  <a:pt x="0" y="9464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279" y="237899"/>
            <a:ext cx="9265953" cy="3380821"/>
          </a:xfrm>
          <a:custGeom>
            <a:avLst/>
            <a:gdLst/>
            <a:ahLst/>
            <a:cxnLst/>
            <a:rect r="r" b="b" t="t" l="l"/>
            <a:pathLst>
              <a:path h="3380821" w="9265953">
                <a:moveTo>
                  <a:pt x="0" y="0"/>
                </a:moveTo>
                <a:lnTo>
                  <a:pt x="9265953" y="0"/>
                </a:lnTo>
                <a:lnTo>
                  <a:pt x="9265953" y="3380820"/>
                </a:lnTo>
                <a:lnTo>
                  <a:pt x="0" y="3380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2966" y="3994663"/>
            <a:ext cx="9209265" cy="2887032"/>
          </a:xfrm>
          <a:custGeom>
            <a:avLst/>
            <a:gdLst/>
            <a:ahLst/>
            <a:cxnLst/>
            <a:rect r="r" b="b" t="t" l="l"/>
            <a:pathLst>
              <a:path h="2887032" w="9209265">
                <a:moveTo>
                  <a:pt x="0" y="0"/>
                </a:moveTo>
                <a:lnTo>
                  <a:pt x="9209266" y="0"/>
                </a:lnTo>
                <a:lnTo>
                  <a:pt x="9209266" y="2887032"/>
                </a:lnTo>
                <a:lnTo>
                  <a:pt x="0" y="2887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253170"/>
            <a:ext cx="11301259" cy="2514530"/>
          </a:xfrm>
          <a:custGeom>
            <a:avLst/>
            <a:gdLst/>
            <a:ahLst/>
            <a:cxnLst/>
            <a:rect r="r" b="b" t="t" l="l"/>
            <a:pathLst>
              <a:path h="2514530" w="11301259">
                <a:moveTo>
                  <a:pt x="0" y="0"/>
                </a:moveTo>
                <a:lnTo>
                  <a:pt x="11301259" y="0"/>
                </a:lnTo>
                <a:lnTo>
                  <a:pt x="11301259" y="2514530"/>
                </a:lnTo>
                <a:lnTo>
                  <a:pt x="0" y="2514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8578" y="-1201787"/>
            <a:ext cx="13008829" cy="130088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0"/>
                  </a:srgbClr>
                </a:gs>
                <a:gs pos="100000">
                  <a:srgbClr val="FFFFFF">
                    <a:alpha val="77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04102" y="543262"/>
            <a:ext cx="7683898" cy="9518730"/>
          </a:xfrm>
          <a:custGeom>
            <a:avLst/>
            <a:gdLst/>
            <a:ahLst/>
            <a:cxnLst/>
            <a:rect r="r" b="b" t="t" l="l"/>
            <a:pathLst>
              <a:path h="9518730" w="7683898">
                <a:moveTo>
                  <a:pt x="0" y="0"/>
                </a:moveTo>
                <a:lnTo>
                  <a:pt x="7683898" y="0"/>
                </a:lnTo>
                <a:lnTo>
                  <a:pt x="7683898" y="9518730"/>
                </a:lnTo>
                <a:lnTo>
                  <a:pt x="0" y="9518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503952"/>
            <a:ext cx="9458248" cy="178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4"/>
              </a:lnSpc>
            </a:pPr>
            <a:r>
              <a:rPr lang="en-US" sz="129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DAG6VJTAlKc</dc:identifier>
  <dcterms:modified xsi:type="dcterms:W3CDTF">2011-08-01T06:04:30Z</dcterms:modified>
  <cp:revision>1</cp:revision>
  <dc:title>Blue Futuristic Artificial Intelligence Presentation</dc:title>
</cp:coreProperties>
</file>